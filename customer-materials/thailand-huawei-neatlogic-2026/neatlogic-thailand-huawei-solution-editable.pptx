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8d46a16d64127" /><Relationship Type="http://schemas.openxmlformats.org/officeDocument/2006/relationships/extended-properties" Target="/docProps/app.xml" Id="Ra783b735b89d4332" /><Relationship Type="http://schemas.openxmlformats.org/officeDocument/2006/relationships/officeDocument" Target="/ppt/presentation.xml" Id="Raeeebaa4a4cf48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43315977224d05"/>
  </p:sldMasterIdLst>
  <p:notesMasterIdLst>
    <p:notesMasterId xmlns:r="http://schemas.openxmlformats.org/officeDocument/2006/relationships" r:id="Rf93fd413b72f4cf9"/>
  </p:notesMasterIdLst>
  <p:sldIdLst>
    <p:sldId xmlns:r="http://schemas.openxmlformats.org/officeDocument/2006/relationships" id="256" r:id="R23b135282ae840e9"/>
    <p:sldId xmlns:r="http://schemas.openxmlformats.org/officeDocument/2006/relationships" id="257" r:id="R8565ad5bac4b4c39"/>
  </p:sldIdLst>
  <p:sldSz cx="24384000" cy="13716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6f21d35e90434c" /><Relationship Type="http://schemas.openxmlformats.org/officeDocument/2006/relationships/slideMaster" Target="/ppt/slideMasters/slideMaster1.xml" Id="R7643315977224d05" /><Relationship Type="http://schemas.openxmlformats.org/officeDocument/2006/relationships/notesMaster" Target="/ppt/notesMasters/notesMaster1.xml" Id="Rf93fd413b72f4cf9" /><Relationship Type="http://schemas.openxmlformats.org/officeDocument/2006/relationships/presProps" Target="/ppt/presProps.xml" Id="Rae70244dd5aa4077" /><Relationship Type="http://schemas.openxmlformats.org/officeDocument/2006/relationships/tableStyles" Target="/ppt/tableStyles.xml" Id="R94faccd654214887" /><Relationship Type="http://schemas.openxmlformats.org/officeDocument/2006/relationships/slide" Target="/ppt/slides/slide1.xml" Id="R23b135282ae840e9" /><Relationship Type="http://schemas.openxmlformats.org/officeDocument/2006/relationships/slide" Target="/ppt/slides/slide2.xml" Id="R8565ad5bac4b4c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ce6eb6982f47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d335347e0430f" /><Relationship Type="http://schemas.openxmlformats.org/officeDocument/2006/relationships/notesMaster" Target="/ppt/notesMasters/notesMaster1.xml" Id="Rb22514e9b08f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0273e1cbca432f" /><Relationship Type="http://schemas.openxmlformats.org/officeDocument/2006/relationships/notesMaster" Target="/ppt/notesMasters/notesMaster1.xml" Id="R9858c88db40b41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048fbdf634e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4ceef9fc4c41c4" /><Relationship Type="http://schemas.openxmlformats.org/officeDocument/2006/relationships/slideLayout" Target="/ppt/slideLayouts/slideLayout1.xml" Id="Rd0b53fe627e141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b53fe627e141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f25728b7642be" /><Relationship Type="http://schemas.openxmlformats.org/officeDocument/2006/relationships/notesSlide" Target="/ppt/notesSlides/notesSlide1.xml" Id="R3929f44c08d54d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fcf10f4a44185" /><Relationship Type="http://schemas.openxmlformats.org/officeDocument/2006/relationships/notesSlide" Target="/ppt/notesSlides/notesSlide2.xml" Id="R9a0dcf10d25f40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E9849-6397-4654-898C-1E492E10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1323C-DC0D-4456-9A45-E86461A0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524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B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NeatLogic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4B39B-2F23-4A86-BBA5-36D3075B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3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17A"/>
                </a:solidFill>
              </a:defRPr>
            </a:pPr>
            <a:r>
              <a:rPr sz="1650" b="1">
                <a:solidFill>
                  <a:srgbClr val="52617A"/>
                </a:solidFill>
              </a:rPr>
              <a:t>Customer Solution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0DA3D-1D22-4B37-ADF8-CB47B446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5524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2617A"/>
                </a:solidFill>
              </a:defRPr>
            </a:pPr>
            <a:r>
              <a:rPr sz="1350">
                <a:solidFill>
                  <a:srgbClr val="52617A"/>
                </a:solidFill>
              </a:rPr>
              <a:t>Page 1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69A92-B3E3-4344-A39B-84A04825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428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21C2D"/>
                </a:solidFill>
              </a:defRPr>
            </a:pPr>
            <a:r>
              <a:rPr sz="4500" b="1">
                <a:solidFill>
                  <a:srgbClr val="121C2D"/>
                </a:solidFill>
              </a:rPr>
              <a:t>NeatLogic for Financial IT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FCDDD-342B-47AB-B097-AB6F17B1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2617A"/>
                </a:solidFill>
              </a:defRPr>
            </a:pPr>
            <a:r>
              <a:rPr sz="2250">
                <a:solidFill>
                  <a:srgbClr val="52617A"/>
                </a:solidFill>
              </a:rPr>
              <a:t>From fragmented operations to AI-assisted service 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FA77E-AEED-4A49-AEEE-EA1D0BAD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4953000" cy="80486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94F75-FDEF-49D1-98D7-FEB4C710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5413E"/>
                </a:solidFill>
              </a:defRPr>
            </a:pPr>
            <a:r>
              <a:rPr sz="2475" b="1">
                <a:solidFill>
                  <a:srgbClr val="B5413E"/>
                </a:solidFill>
              </a:rPr>
              <a:t>Customer Pain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F7E03-B8BD-495B-9E45-5E8E1D52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64919-B924-4F79-850D-3FFCEB31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338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1C2D"/>
                </a:solidFill>
              </a:defRPr>
            </a:pPr>
            <a:r>
              <a:rPr sz="1800">
                <a:solidFill>
                  <a:srgbClr val="121C2D"/>
                </a:solidFill>
              </a:rPr>
              <a:t>Slow response: manual dispatch and unclear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38DFC-D586-467E-A594-D098095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38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52A68-F8F6-4CF4-81B7-A6ABF0CF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1C2D"/>
                </a:solidFill>
              </a:defRPr>
            </a:pPr>
            <a:r>
              <a:rPr sz="1800">
                <a:solidFill>
                  <a:srgbClr val="121C2D"/>
                </a:solidFill>
              </a:rPr>
              <a:t>High operating cost: repetitive checks, releases and 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B28B0-ACC7-46CC-8B6E-80F1024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D6AC5-29D7-4F00-B8BB-D26DD624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1C2D"/>
                </a:solidFill>
              </a:defRPr>
            </a:pPr>
            <a:r>
              <a:rPr sz="1800">
                <a:solidFill>
                  <a:srgbClr val="121C2D"/>
                </a:solidFill>
              </a:rPr>
              <a:t>Fragmented data: assets, tickets, alerts and changes are disconnected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BC14C-2C64-4F07-AEDE-213B24A6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3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81742-9504-47C5-BC6F-56E3D9DB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341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1C2D"/>
                </a:solidFill>
              </a:defRPr>
            </a:pPr>
            <a:r>
              <a:rPr sz="1800">
                <a:solidFill>
                  <a:srgbClr val="121C2D"/>
                </a:solidFill>
              </a:rPr>
              <a:t>Late risk detection: noisy alerts without business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46290-7F45-4259-86C4-3C276EF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03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4EC1E-9B32-4C9A-8305-C3C29D52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9342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1C2D"/>
                </a:solidFill>
              </a:defRPr>
            </a:pPr>
            <a:r>
              <a:rPr sz="1800">
                <a:solidFill>
                  <a:srgbClr val="121C2D"/>
                </a:solidFill>
              </a:rPr>
              <a:t>Compliance pressure: evidence is hard to trace end to 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FC974-DCFD-4833-A0DA-EC15E774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C2D"/>
                </a:solidFill>
              </a:defRPr>
            </a:pPr>
            <a:r>
              <a:rPr sz="2550" b="1">
                <a:solidFill>
                  <a:srgbClr val="121C2D"/>
                </a:solidFill>
              </a:rPr>
              <a:t>Business Pain -&gt; Platform Capability -&gt; Huawei Foundation -&gt;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E8A12-CE40-4DE5-8B4C-52207618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8050"/>
            <a:ext cx="2971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152FE-E833-4EBC-B20E-866A0E5A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Pain 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324F4-15FC-4222-8DE9-32A67AE0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48050"/>
            <a:ext cx="3867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E5C64-0069-4812-9828-67B3E0EF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814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NeatLogic Capability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610EB-2B8B-4DEF-8A79-09AE814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448050"/>
            <a:ext cx="3581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9B91C-381E-4B83-8BC8-EBF814BC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581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Huawei ICT /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299CB-46A4-4D62-8A28-2AAD416A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3448050"/>
            <a:ext cx="3962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AFC0D0-770F-49AD-BDC0-2DC6BFCF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4550" y="35814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Business Effect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CF431A-0E06-4C4E-A748-9832884D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2971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F8F7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A7A215-52D5-426B-9CC4-10EA2E4F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ABC464-F723-4F0C-A5EB-70D77AAC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6720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Service response is slow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A0167C-3F1E-49D6-A772-442F0343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57650"/>
            <a:ext cx="3867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A56526-C1D3-4CFB-B87B-F270A100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67200"/>
            <a:ext cx="3409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ITSM service catalog, workflow, SLA, smart assignment, mobile handling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FBBA78-FEF1-4662-863E-D06A521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057650"/>
            <a:ext cx="3581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F986F3-1A4B-41BC-B065-DA09A93B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2672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Cloud, network, compute, storage and AI service foundation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CB1CD8-22A9-4965-8B6B-FB046DB5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4057650"/>
            <a:ext cx="3962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FC18D9-AC19-48DA-A26F-1145E798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4267200"/>
            <a:ext cx="350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Faster routing, visible SLA control, better user experience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DFA57E-E6C8-4889-A1CF-D2701FC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67350"/>
            <a:ext cx="2971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F8F7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E39BFF-7828-448C-B867-49A339D3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673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47F38D-D54C-4F9F-8453-DF86BB7A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7690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Asset and application data are incomplete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4DD893-BEB5-4529-8572-96DB21D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67350"/>
            <a:ext cx="3867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F7FE6A-C39B-40A9-B957-4B6A3328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676900"/>
            <a:ext cx="3409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CMDB, auto discovery, topology, transaction records, audit trail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A9680B-AD04-4FFE-8D1A-AC0C5847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467350"/>
            <a:ext cx="3581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292FBE-0283-4B6F-96FE-23281330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6769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Trusted ICT resource data and integration capability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659FEC-6941-46DB-A546-1EAFF252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467350"/>
            <a:ext cx="3962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BDD25C-1EF7-401F-AE3A-32F596D7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5676900"/>
            <a:ext cx="350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Faster impact analysis and stronger change risk control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26C4E7-B175-4F43-89B9-1F4EAD23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877050"/>
            <a:ext cx="2971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F8F7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F64407-AC8B-4CF5-8368-0CECAC9C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8770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CA849C-3F58-4874-A593-B4E5D23A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08660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Alerts are noisy and risk is late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4B365B-AEC2-4E09-BD53-3725413B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877050"/>
            <a:ext cx="3867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A039DA-D5A3-43A8-8201-224A6184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086600"/>
            <a:ext cx="3409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Alert center, event plugins, suppression, subscription, topology, AI analysis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1F6851-4B80-427D-B894-63A9745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877050"/>
            <a:ext cx="3581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095C0E-575E-4650-8748-DC5CCF1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0866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AI platform/model services plus monitoring data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810FE2-EEB5-4C70-A568-EAC0B2E7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6877050"/>
            <a:ext cx="3962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4EF874-A2EA-4104-9394-394DCF4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7086600"/>
            <a:ext cx="350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Lower alert noise and earlier risk recognition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A54836-1E83-4E06-9D50-8F83BB2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8286750"/>
            <a:ext cx="2971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F8F7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2355D3-50A2-41E9-AEDB-A96D8020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8286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57B0B0-2BDB-4BCD-8328-2BFEDBAB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49630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Operations and releases are manual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F4D7C4-0C02-43BA-B49D-66DA35E6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8286750"/>
            <a:ext cx="3867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7B7557-EEC2-4E49-9F0B-A3F18AF0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496300"/>
            <a:ext cx="3409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Automation orchestration, runner execution, gray/batch release, super pipeline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A354C0-F6B6-4A7A-8506-4FD6601F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8286750"/>
            <a:ext cx="3581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FD3C6E-1E6A-4E93-9BE4-4C4923FC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4963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Compute, network, storage, security and cloud resources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C15755-0256-4690-A11A-32B5BF14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8286750"/>
            <a:ext cx="3962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435118-5B45-4112-9E53-CA3FDB04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8496300"/>
            <a:ext cx="350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Shorter cycles, fewer manual errors, repeatable execution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ED33DE-88E8-4D90-9A9E-3615A350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96202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C2D"/>
                </a:solidFill>
              </a:defRPr>
            </a:pPr>
            <a:r>
              <a:rPr sz="2550" b="1">
                <a:solidFill>
                  <a:srgbClr val="121C2D"/>
                </a:solidFill>
              </a:rPr>
              <a:t>Customer Value to Validate in PoC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4F4262-3453-49CB-BAE4-0D39BA06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15365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944287-C35B-418D-8618-3BB1F097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5156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E5BA8"/>
                </a:solidFill>
              </a:defRPr>
            </a:pPr>
            <a:r>
              <a:rPr sz="3300" b="1">
                <a:solidFill>
                  <a:srgbClr val="1E5BA8"/>
                </a:solidFill>
              </a:rPr>
              <a:t>30-50%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78AB41-BCEC-41D7-B534-8147800D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10299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17A"/>
                </a:solidFill>
              </a:defRPr>
            </a:pPr>
            <a:r>
              <a:rPr sz="1575" b="1">
                <a:solidFill>
                  <a:srgbClr val="52617A"/>
                </a:solidFill>
              </a:rPr>
              <a:t>less manual incident triage effort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30A3B2-EE3E-4FC7-9586-4CAAB0F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15365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5566EF-312C-421B-A1F3-4B264BB0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05156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8691"/>
                </a:solidFill>
              </a:defRPr>
            </a:pPr>
            <a:r>
              <a:rPr sz="3300" b="1">
                <a:solidFill>
                  <a:srgbClr val="008691"/>
                </a:solidFill>
              </a:rPr>
              <a:t>20-40%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EB7832-8174-4627-8251-598CCB74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10299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17A"/>
                </a:solidFill>
              </a:defRPr>
            </a:pPr>
            <a:r>
              <a:rPr sz="1575" b="1">
                <a:solidFill>
                  <a:srgbClr val="52617A"/>
                </a:solidFill>
              </a:rPr>
              <a:t>shorter incident or change lead time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829AE7-E380-4059-9714-6049B6CF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1015365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EC1B88-872A-429C-912E-AD5C93FE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05156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8959"/>
                </a:solidFill>
              </a:defRPr>
            </a:pPr>
            <a:r>
              <a:rPr sz="3300" b="1">
                <a:solidFill>
                  <a:srgbClr val="248959"/>
                </a:solidFill>
              </a:rPr>
              <a:t>40-60%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C904C33-4943-4B2C-8B87-C5EC601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10299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17A"/>
                </a:solidFill>
              </a:defRPr>
            </a:pPr>
            <a:r>
              <a:rPr sz="1575" b="1">
                <a:solidFill>
                  <a:srgbClr val="52617A"/>
                </a:solidFill>
              </a:rPr>
              <a:t>automation coverage for selected repetitive tasks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142C19-46B3-4435-8C14-F2AB2C52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1015365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187F5C9-8F84-4DDD-88D9-84675284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105156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F8420"/>
                </a:solidFill>
              </a:defRPr>
            </a:pPr>
            <a:r>
              <a:rPr sz="3300" b="1">
                <a:solidFill>
                  <a:srgbClr val="CF8420"/>
                </a:solidFill>
              </a:rPr>
              <a:t>60-80%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8746E7-7FCF-4F1B-B2EB-B270B637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110299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17A"/>
                </a:solidFill>
              </a:defRPr>
            </a:pPr>
            <a:r>
              <a:rPr sz="1575" b="1">
                <a:solidFill>
                  <a:srgbClr val="52617A"/>
                </a:solidFill>
              </a:rPr>
              <a:t>faster asset and impact analysis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742B9D1-7D68-4962-A15C-192DD657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3900" y="1015365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2F3E013-73BA-4586-94A0-40E8576F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105156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F58AA"/>
                </a:solidFill>
              </a:defRPr>
            </a:pPr>
            <a:r>
              <a:rPr sz="3300" b="1">
                <a:solidFill>
                  <a:srgbClr val="5F58AA"/>
                </a:solidFill>
              </a:rPr>
              <a:t>100%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AC7453-35CF-4D3C-96FD-8242FAFA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110299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17A"/>
                </a:solidFill>
              </a:defRPr>
            </a:pPr>
            <a:r>
              <a:rPr sz="1575" b="1">
                <a:solidFill>
                  <a:srgbClr val="52617A"/>
                </a:solidFill>
              </a:rPr>
              <a:t>traceable approval, execution and audit evidence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26CA7B-EA16-48B7-9CAB-05D16B91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992100"/>
            <a:ext cx="2255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8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51F3C5-BA0E-4BD3-B238-36C40C7C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287375"/>
            <a:ext cx="1190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A"/>
                </a:solidFill>
              </a:defRPr>
            </a:pPr>
            <a:r>
              <a:rPr sz="1275">
                <a:solidFill>
                  <a:srgbClr val="52617A"/>
                </a:solidFill>
              </a:rPr>
              <a:t>Draft for Huawei Thailand customer discussion | Metrics are PoC validation targets, not committed production results</a:t>
            </a:r>
          </a:p>
        </p:txBody>
      </p:sp>
    </p:spTree>
    <p:extLst>
      <p:ext uri="{BB962C8B-B14F-4D97-AF65-F5344CB8AC3E}">
        <p14:creationId xmlns:p14="http://schemas.microsoft.com/office/powerpoint/2010/main" val="123052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2F3243-5F5A-4CCF-B448-AF736B5E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1889D-F290-49CA-BEEE-884FECDC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524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B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NeatLogic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59312-3F1C-4CA3-A25A-56D7C7C3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3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17A"/>
                </a:solidFill>
              </a:defRPr>
            </a:pPr>
            <a:r>
              <a:rPr sz="1650" b="1">
                <a:solidFill>
                  <a:srgbClr val="52617A"/>
                </a:solidFill>
              </a:rPr>
              <a:t>Customer Solution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126B4-D0BF-47F5-9464-B9C0FB5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5524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2617A"/>
                </a:solidFill>
              </a:defRPr>
            </a:pPr>
            <a:r>
              <a:rPr sz="1350">
                <a:solidFill>
                  <a:srgbClr val="52617A"/>
                </a:solidFill>
              </a:rPr>
              <a:t>Page 2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54012-A28F-45B4-AB62-07714B44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428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21C2D"/>
                </a:solidFill>
              </a:defRPr>
            </a:pPr>
            <a:r>
              <a:rPr sz="4500" b="1">
                <a:solidFill>
                  <a:srgbClr val="121C2D"/>
                </a:solidFill>
              </a:rPr>
              <a:t>Capability Map &amp; PoC Proof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DAA1C-FAEB-4CEA-A498-50A7873F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2617A"/>
                </a:solidFill>
              </a:defRPr>
            </a:pPr>
            <a:r>
              <a:rPr sz="2250">
                <a:solidFill>
                  <a:srgbClr val="52617A"/>
                </a:solidFill>
              </a:rPr>
              <a:t>One platform for service, operations, change, knowledge and AI-assisted decisioning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C2B47-F5D9-444E-89D1-26FEC5A4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C2D"/>
                </a:solidFill>
              </a:defRPr>
            </a:pPr>
            <a:r>
              <a:rPr sz="2550" b="1">
                <a:solidFill>
                  <a:srgbClr val="121C2D"/>
                </a:solidFill>
              </a:rPr>
              <a:t>NeatLogic Capability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0E20C-11FB-4AF1-A8BF-6A57437E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22A07-A8A4-4CAC-8625-2A0BBCD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857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D5BB0-719B-48FB-91C4-F90874B2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E5BA8"/>
                </a:solidFill>
              </a:defRPr>
            </a:pPr>
            <a:r>
              <a:rPr sz="2100" b="1">
                <a:solidFill>
                  <a:srgbClr val="1E5BA8"/>
                </a:solidFill>
              </a:rPr>
              <a:t>Customer &amp; Employee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E9125-84B7-4DEE-B3AE-4C777B73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A"/>
                </a:solidFill>
              </a:defRPr>
            </a:pPr>
            <a:r>
              <a:rPr sz="1575">
                <a:solidFill>
                  <a:srgbClr val="52617A"/>
                </a:solidFill>
              </a:rPr>
              <a:t>Service catalog, work order center, workflow, SLA, satisfaction, notification, mobile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1A721-F9CA-4A3B-A39B-AEBC28EA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5456D-583F-4117-BDA5-BEE1043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857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A1628-BE15-44AB-8C3A-49584B12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691"/>
                </a:solidFill>
              </a:defRPr>
            </a:pPr>
            <a:r>
              <a:rPr sz="2100" b="1">
                <a:solidFill>
                  <a:srgbClr val="008691"/>
                </a:solidFill>
              </a:rPr>
              <a:t>CMDB &amp; Resource Center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395FF-9953-4D9D-B90E-4DFCFA56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A"/>
                </a:solidFill>
              </a:defRPr>
            </a:pPr>
            <a:r>
              <a:rPr sz="1575">
                <a:solidFill>
                  <a:srgbClr val="52617A"/>
                </a:solidFill>
              </a:rPr>
              <a:t>Dynamic CI model, topology, transaction, discovery, collection, authorization, APIs and messages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ABD1B-D827-48D6-91B9-7829DA14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FF1FC-300E-4347-A398-3FA1FAA3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857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D114A-403D-42EB-AF32-3FAD5AE3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5413E"/>
                </a:solidFill>
              </a:defRPr>
            </a:pPr>
            <a:r>
              <a:rPr sz="2100" b="1">
                <a:solidFill>
                  <a:srgbClr val="B5413E"/>
                </a:solidFill>
              </a:rPr>
              <a:t>Monitoring &amp; Risk Detection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7A66C-F6DA-4E34-9E3C-EF04255C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A"/>
                </a:solidFill>
              </a:defRPr>
            </a:pPr>
            <a:r>
              <a:rPr sz="1575">
                <a:solidFill>
                  <a:srgbClr val="52617A"/>
                </a:solidFill>
              </a:rPr>
              <a:t>Inspection, latest problem list, config comparison, alert lifecycle, suppression and subscription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AE102-97E2-4BF5-8C0A-6DD05364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0DAB8-E887-4D21-BD85-4CC53BFC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857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844EF-6053-416E-A4BF-79C6FDD5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8959"/>
                </a:solidFill>
              </a:defRPr>
            </a:pPr>
            <a:r>
              <a:rPr sz="2100" b="1">
                <a:solidFill>
                  <a:srgbClr val="248959"/>
                </a:solidFill>
              </a:rPr>
              <a:t>Automation &amp; 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E6D6E-4E14-495C-9D76-2F43F4FC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150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A"/>
                </a:solidFill>
              </a:defRPr>
            </a:pPr>
            <a:r>
              <a:rPr sz="1575">
                <a:solidFill>
                  <a:srgbClr val="52617A"/>
                </a:solidFill>
              </a:rPr>
              <a:t>Custom tools, orchestration, runner execution, batch/parallel/gray execution, one-click release, super pipeline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9A3E7-BB49-4C54-9AF8-ED226F79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103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C517C-88A6-4099-9841-5B128797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10350"/>
            <a:ext cx="857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8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3D3A0-9F31-41AF-A282-FA5AAEF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580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F8420"/>
                </a:solidFill>
              </a:defRPr>
            </a:pPr>
            <a:r>
              <a:rPr sz="2100" b="1">
                <a:solidFill>
                  <a:srgbClr val="CF8420"/>
                </a:solidFill>
              </a:rPr>
              <a:t>Delivery 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6BF706-B425-41E3-A6BF-1D8F656F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3533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A"/>
                </a:solidFill>
              </a:defRPr>
            </a:pPr>
            <a:r>
              <a:rPr sz="1575">
                <a:solidFill>
                  <a:srgbClr val="52617A"/>
                </a:solidFill>
              </a:rPr>
              <a:t>Requirements, tasks, defects, iterations, test plans/cases, code and release association, state transitions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54C92-BB0E-4375-8246-2E8152AB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103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AD2A3-C585-472A-BFB0-770D4A7F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10350"/>
            <a:ext cx="857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D81F96-D9C5-4B2C-AC48-0F01E10B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8580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58AA"/>
                </a:solidFill>
              </a:defRPr>
            </a:pPr>
            <a:r>
              <a:rPr sz="2100" b="1">
                <a:solidFill>
                  <a:srgbClr val="5F58AA"/>
                </a:solidFill>
              </a:rPr>
              <a:t>Knowledge &amp; Visibility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0BA998-B7B8-49DD-962E-39ED50E9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73533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A"/>
                </a:solidFill>
              </a:defRPr>
            </a:pPr>
            <a:r>
              <a:rPr sz="1575">
                <a:solidFill>
                  <a:srgbClr val="52617A"/>
                </a:solidFill>
              </a:rPr>
              <a:t>Knowledge approval and versioning, ITSM-to-knowledge conversion, reports, dashboard and large screen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F0170-3B8B-4875-82FE-BE9B24F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486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26BD7E-C844-483C-8DB9-663A019B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48650"/>
            <a:ext cx="857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03F8C2-7919-41C8-B10F-3C37AE88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4963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2B45"/>
                </a:solidFill>
              </a:defRPr>
            </a:pPr>
            <a:r>
              <a:rPr sz="2100" b="1">
                <a:solidFill>
                  <a:srgbClr val="1A2B45"/>
                </a:solidFill>
              </a:rPr>
              <a:t>AI-assisted 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0152AE-960C-4531-9229-443A981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9916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A"/>
                </a:solidFill>
              </a:defRPr>
            </a:pPr>
            <a:r>
              <a:rPr sz="1575">
                <a:solidFill>
                  <a:srgbClr val="52617A"/>
                </a:solidFill>
              </a:rPr>
              <a:t>AI agents, tool/workflow invocation, RAG knowledge retrieval, alert analysis, structured outputs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19160D-1960-45AC-A9A6-DB35D94B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813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C2D"/>
                </a:solidFill>
              </a:defRPr>
            </a:pPr>
            <a:r>
              <a:rPr sz="2550" b="1">
                <a:solidFill>
                  <a:srgbClr val="121C2D"/>
                </a:solidFill>
              </a:rPr>
              <a:t>Financial Customer PoC Proof Path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69AA21-C7B6-4CCA-A48B-7D4DD5F8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333750"/>
            <a:ext cx="5638800" cy="64770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A49E19-2C11-40AC-AA72-75DF3878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638550"/>
            <a:ext cx="506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5BA8"/>
                </a:solidFill>
              </a:defRPr>
            </a:pPr>
            <a:r>
              <a:rPr sz="2250" b="1">
                <a:solidFill>
                  <a:srgbClr val="1E5BA8"/>
                </a:solidFill>
              </a:rPr>
              <a:t>PoC 1: Incident-to-Resolution Intelligence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C04D94-EFED-49B4-8BB5-0ED808CC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76750"/>
            <a:ext cx="5067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Connect monitoring alerts, CMDB context, ITSM workflow, knowledge base and approved automation for one high-value banking application.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558FCB-8FF7-448C-9843-E13F59D8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5245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1C2D"/>
                </a:solidFill>
              </a:defRPr>
            </a:pPr>
            <a:r>
              <a:rPr sz="1650" b="1">
                <a:solidFill>
                  <a:srgbClr val="121C2D"/>
                </a:solidFill>
              </a:rPr>
              <a:t>Implementation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EEA70E-8C4F-4CE8-A955-107A33D8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019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E760F4-4C22-4E9F-8D2F-95BA07F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924550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Ingest alerts into Alert Center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BA07E0-50D5-4899-8903-FF2EDC0D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467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29AA39-D8B9-46A4-98CB-859E97E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372225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Correlate application, owner and topology through CMDB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B1F29E-22C7-4296-80D4-EB38C420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91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513F62-5242-49F2-8B7A-CDE47D57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819900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Use AI to classify severity, probable cause and action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E6CCF0-FEC4-428A-8981-3959BBF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36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44C539-546B-4E16-8401-E000852A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67575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Create/update ticket, assign team and attach runbook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6ED6DC-20E6-40B2-A3FB-3949DC24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81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C9FB5D-EFF3-493F-8BDA-CEF3DBC0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715250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Report SLA, MTTA/MTTR and closure evidence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28D714-BC20-481C-B835-3894D8ED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2772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1C2D"/>
                </a:solidFill>
              </a:defRPr>
            </a:pPr>
            <a:r>
              <a:rPr sz="1650" b="1">
                <a:solidFill>
                  <a:srgbClr val="121C2D"/>
                </a:solidFill>
              </a:rPr>
              <a:t>Suggested validation metrics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86000E-3DE7-4ECA-9749-E82E0E61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8772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C1050F-CD02-4363-9FB6-21B53475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677275"/>
            <a:ext cx="474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Alert noise reduction ratio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0F0BB9-1D49-4764-A188-DBFB0DFD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910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141EC0-D30D-4094-A986-896B14CE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9010650"/>
            <a:ext cx="474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Correct assignment ratio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8F0865-371E-4196-838E-A7D27CBC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9439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A92A57-644D-4460-A0C8-67B06B04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9344025"/>
            <a:ext cx="474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MTTA and MTTR improvement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FAE95A-BE39-4E51-9EA8-0E5CB440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9772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1C2BD4-7CD1-4FFA-8F1E-1D86B37D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9677400"/>
            <a:ext cx="474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Evidence completeness per incident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2E0000-0348-4DE3-BF10-74F4EC57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3333750"/>
            <a:ext cx="5638800" cy="64770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B68756-354A-4441-A844-6AA0CFB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3638550"/>
            <a:ext cx="506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8959"/>
                </a:solidFill>
              </a:defRPr>
            </a:pPr>
            <a:r>
              <a:rPr sz="2250" b="1">
                <a:solidFill>
                  <a:srgbClr val="248959"/>
                </a:solidFill>
              </a:rPr>
              <a:t>PoC 2: Controlled Change and Release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526AF6-3232-4926-8163-04ACF3F3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4476750"/>
            <a:ext cx="5067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Standardize a core banking or channel-system change flow from request, approval, risk assessment, release, verification and rollback evidence.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E30A51-D407-42AB-8B8A-1DBB4653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55245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1C2D"/>
                </a:solidFill>
              </a:defRPr>
            </a:pPr>
            <a:r>
              <a:rPr sz="1650" b="1">
                <a:solidFill>
                  <a:srgbClr val="121C2D"/>
                </a:solidFill>
              </a:rPr>
              <a:t>Implementation path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C8FA8C-CDF0-4FBF-B9FC-FBF111B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6019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EF4C6C-7D71-40CB-9384-E06AE15F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5924550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Submit change through ITSM service catalog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A577A5-26C3-41AC-A07D-BF44AA8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6467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5F72CE-FF45-4BEF-915B-4481A899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6372225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Use CMDB topology to show impacted services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77F7E9-A6F2-439F-B5EE-533692B1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691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05D08D-7151-4834-9150-F8E2D65B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6819900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Run automated pre-check, release, post-check and rollback steps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AB92DC-B40F-4CB8-8C2A-7270411B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736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F13200-EAF2-49E4-B82F-050D396D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7267575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Show status, logs, failure reason and compliance evidence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DACA9B-8F39-4F75-886C-91B59583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78295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1C2D"/>
                </a:solidFill>
              </a:defRPr>
            </a:pPr>
            <a:r>
              <a:rPr sz="1650" b="1">
                <a:solidFill>
                  <a:srgbClr val="121C2D"/>
                </a:solidFill>
              </a:rPr>
              <a:t>Suggested validation metrics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FA8049-4A1A-4B7F-8C46-30E6BD79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832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C335AB-7407-4C94-9CDD-D4B90918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8229600"/>
            <a:ext cx="474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Lead time from request to verified completion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255132-B31F-4B58-9A3E-E158F756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8658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2DB546-76CB-43F4-B867-840D45B6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8562975"/>
            <a:ext cx="474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Manual steps replaced by automation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014B429-06B2-49EF-B7A2-EF3FF22E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899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1F5AE4-30D6-4F5C-A8C3-4E7D1FBA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8896350"/>
            <a:ext cx="474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Release success and rollback readiness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0223DE9-133E-4110-8698-EDEA30B5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9324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150F3E2-9E87-4710-B34E-D929771B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9229725"/>
            <a:ext cx="474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A"/>
                </a:solidFill>
              </a:defRPr>
            </a:pPr>
            <a:r>
              <a:rPr sz="1500">
                <a:solidFill>
                  <a:srgbClr val="52617A"/>
                </a:solidFill>
              </a:rPr>
              <a:t>Audit evidence completeness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06D69FD-E4BC-432A-911B-6B787526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0248900"/>
            <a:ext cx="11753850" cy="1419225"/>
          </a:xfrm>
          <a:prstGeom xmlns:a="http://schemas.openxmlformats.org/drawingml/2006/main" prst="roundRect">
            <a:avLst>
              <a:gd name="adj" fmla="val 10738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7CDE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E3A35B2-76A2-41CA-B8E6-C939D0DB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0591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E5BA8"/>
                </a:solidFill>
              </a:defRPr>
            </a:pPr>
            <a:r>
              <a:rPr sz="2100" b="1">
                <a:solidFill>
                  <a:srgbClr val="1E5BA8"/>
                </a:solidFill>
              </a:rPr>
              <a:t>Recommended customer-facing message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C870A62-812A-4592-A6D8-54EC51C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10109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1C2D"/>
                </a:solidFill>
              </a:defRPr>
            </a:pPr>
            <a:r>
              <a:rPr sz="1650">
                <a:solidFill>
                  <a:srgbClr val="121C2D"/>
                </a:solidFill>
              </a:rPr>
              <a:t>NeatLogic does not replace existing banking systems. It connects requests, assets, alerts, changes, automation and knowledge into one operational loop, then uses Huawei ICT/AI foundation to make the loop faster, more traceable and easier to scale.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C84C8E-2750-4748-8ACA-D104E7A9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992100"/>
            <a:ext cx="2255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8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9D4EE9-E425-4206-96AD-42151E04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287375"/>
            <a:ext cx="1190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A"/>
                </a:solidFill>
              </a:defRPr>
            </a:pPr>
            <a:r>
              <a:rPr sz="1275">
                <a:solidFill>
                  <a:srgbClr val="52617A"/>
                </a:solidFill>
              </a:rPr>
              <a:t>Draft for Huawei Thailand customer discussion | Metrics are PoC validation targets, not committed production results</a:t>
            </a:r>
          </a:p>
        </p:txBody>
      </p:sp>
    </p:spTree>
    <p:extLst>
      <p:ext uri="{BB962C8B-B14F-4D97-AF65-F5344CB8AC3E}">
        <p14:creationId xmlns:p14="http://schemas.microsoft.com/office/powerpoint/2010/main" val="381084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2026-07-09T09:26:13.5820000Z</dcterms:created>
  <dcterms:modified xsi:type="dcterms:W3CDTF">2026-07-09T09:26:13.5820000Z</dcterms:modified>
</coreProperties>
</file>